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7" r:id="rId12"/>
    <p:sldId id="268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AF8"/>
    <a:srgbClr val="EDDDE7"/>
    <a:srgbClr val="F5E8CB"/>
    <a:srgbClr val="E3EBE1"/>
    <a:srgbClr val="F0DDD3"/>
    <a:srgbClr val="B98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Bütçe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E8E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FCA-2C47-B2D9-AA608552C1AB}"/>
              </c:ext>
            </c:extLst>
          </c:dPt>
          <c:dPt>
            <c:idx val="1"/>
            <c:bubble3D val="0"/>
            <c:spPr>
              <a:solidFill>
                <a:srgbClr val="B98B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CA-2C47-B2D9-AA608552C1AB}"/>
              </c:ext>
            </c:extLst>
          </c:dPt>
          <c:dPt>
            <c:idx val="2"/>
            <c:bubble3D val="0"/>
            <c:spPr>
              <a:solidFill>
                <a:srgbClr val="A7BB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FCA-2C47-B2D9-AA608552C1AB}"/>
              </c:ext>
            </c:extLst>
          </c:dPt>
          <c:dPt>
            <c:idx val="3"/>
            <c:bubble3D val="0"/>
            <c:spPr>
              <a:solidFill>
                <a:srgbClr val="D9A2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FCA-2C47-B2D9-AA608552C1AB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FCA-2C47-B2D9-AA608552C1AB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FCA-2C47-B2D9-AA608552C1AB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CA-2C47-B2D9-AA608552C1AB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FCA-2C47-B2D9-AA608552C1AB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Personel (ekip)</c:v>
                </c:pt>
                <c:pt idx="1">
                  <c:v>Teknoloji &amp; altyapı</c:v>
                </c:pt>
                <c:pt idx="2">
                  <c:v>Pazar &amp; pilot</c:v>
                </c:pt>
                <c:pt idx="3">
                  <c:v>Beklenmedik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20</c:v>
                </c:pt>
                <c:pt idx="2">
                  <c:v>7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FCA-2C47-B2D9-AA608552C1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E354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328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2A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4754880" cy="4754880"/>
          </a:xfrm>
          <a:prstGeom prst="ellipse">
            <a:avLst/>
          </a:prstGeom>
          <a:solidFill>
            <a:srgbClr val="3E314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3291840"/>
            <a:ext cx="3291840" cy="3291840"/>
          </a:xfrm>
          <a:prstGeom prst="ellipse">
            <a:avLst/>
          </a:prstGeom>
          <a:solidFill>
            <a:srgbClr val="4335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4A3B5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9966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39439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7EF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ay</a:t>
            </a:r>
            <a:r>
              <a:rPr lang="en-US" sz="3000" b="1" dirty="0">
                <a:solidFill>
                  <a:srgbClr val="CE8E7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né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59" y="2468880"/>
            <a:ext cx="1047138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Yapay Zekâ Destekli Canlı Sanal Deneme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 Beden Öneri Sistemi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Almadan önce, üzerinde gör.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4709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7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kıyafet satışında beden ve görünümü tek adımda çözen sanal deneme deneyimi.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Stratejik Proje Yönetimi · Proje Çalışması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3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Online alışverişin çözülemeyen sorunu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Müşteri, kıyafeti satın almadan önce kendi üzerinde göremiyor ve doğru bedeni seçemiyor. Sonuç: yüksek iade, düşük memnuniyet ve firma için artan maliyet.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783080"/>
            <a:ext cx="4709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4ECE6"/>
            </a:solidFill>
            <a:prstDash val="solid"/>
          </a:ln>
          <a:effectLst>
            <a:outerShdw blurRad="76200" dist="25400" dir="5400000" algn="bl" rotWithShape="0">
              <a:srgbClr val="D9CFC9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086600" y="2075688"/>
            <a:ext cx="694944" cy="694944"/>
          </a:xfrm>
          <a:prstGeom prst="ellipse">
            <a:avLst/>
          </a:prstGeom>
          <a:solidFill>
            <a:srgbClr val="F0DCD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285" y="2256373"/>
            <a:ext cx="333573" cy="3335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20025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beden seçimi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01000" y="23865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 tabloları kafa karıştırıyor, herkeste farklı duruyor.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0" y="3246120"/>
            <a:ext cx="4709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4ECE6"/>
            </a:solidFill>
            <a:prstDash val="solid"/>
          </a:ln>
          <a:effectLst>
            <a:outerShdw blurRad="76200" dist="25400" dir="5400000" algn="bl" rotWithShape="0">
              <a:srgbClr val="D9CFC9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7086600" y="3538728"/>
            <a:ext cx="694944" cy="694944"/>
          </a:xfrm>
          <a:prstGeom prst="ellipse">
            <a:avLst/>
          </a:prstGeom>
          <a:solidFill>
            <a:srgbClr val="ECDDE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285" y="3719413"/>
            <a:ext cx="333573" cy="3335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01000" y="34655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iade oranı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001000" y="38496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Deneyememe, online modanın en büyük iade nedeni.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858000" y="4709160"/>
            <a:ext cx="4709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4ECE6"/>
            </a:solidFill>
            <a:prstDash val="solid"/>
          </a:ln>
          <a:effectLst>
            <a:outerShdw blurRad="76200" dist="25400" dir="5400000" algn="bl" rotWithShape="0">
              <a:srgbClr val="D9CFC9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7086600" y="5001768"/>
            <a:ext cx="694944" cy="694944"/>
          </a:xfrm>
          <a:prstGeom prst="ellipse">
            <a:avLst/>
          </a:prstGeom>
          <a:solidFill>
            <a:srgbClr val="E3EAE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285" y="5182453"/>
            <a:ext cx="333573" cy="3335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01000" y="492861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 deneyimi eksik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001000" y="531266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Aynada görme hissi dijitalde karşılanamıyor.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64395" y="364150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CE8E7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%50 - %70’i</a:t>
            </a:r>
            <a:endParaRPr lang="en-US" sz="5400" dirty="0"/>
          </a:p>
        </p:txBody>
      </p:sp>
      <p:sp>
        <p:nvSpPr>
          <p:cNvPr id="21" name="Text 16"/>
          <p:cNvSpPr/>
          <p:nvPr/>
        </p:nvSpPr>
        <p:spPr>
          <a:xfrm>
            <a:off x="624840" y="373255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altLang="tr-TR" sz="1400" dirty="0">
                <a:solidFill>
                  <a:srgbClr val="000000"/>
                </a:solidFill>
                <a:latin typeface="-webkit-standard"/>
              </a:rPr>
              <a:t>Sektör araştırmalarına ve e-ticaret analizlerine göre, kıyafet iadelerinin </a:t>
            </a:r>
          </a:p>
          <a:p>
            <a:endParaRPr lang="tr-TR" altLang="tr-TR" sz="1400" dirty="0">
              <a:solidFill>
                <a:srgbClr val="000000"/>
              </a:solidFill>
              <a:latin typeface="-webkit-standard"/>
            </a:endParaRPr>
          </a:p>
          <a:p>
            <a:endParaRPr lang="tr-TR" altLang="tr-TR" sz="1400" dirty="0">
              <a:solidFill>
                <a:srgbClr val="000000"/>
              </a:solidFill>
              <a:latin typeface="-webkit-standard"/>
            </a:endParaRPr>
          </a:p>
          <a:p>
            <a:endParaRPr lang="tr-TR" altLang="tr-TR" sz="1400" dirty="0">
              <a:solidFill>
                <a:srgbClr val="000000"/>
              </a:solidFill>
              <a:latin typeface="-webkit-standard"/>
            </a:endParaRPr>
          </a:p>
          <a:p>
            <a:endParaRPr lang="tr-TR" altLang="tr-TR" sz="1400" dirty="0">
              <a:solidFill>
                <a:srgbClr val="000000"/>
              </a:solidFill>
              <a:latin typeface="-webkit-standard"/>
            </a:endParaRPr>
          </a:p>
          <a:p>
            <a:r>
              <a:rPr lang="tr-TR" altLang="tr-TR" sz="1400" dirty="0">
                <a:solidFill>
                  <a:srgbClr val="000000"/>
                </a:solidFill>
                <a:latin typeface="-webkit-standard"/>
              </a:rPr>
              <a:t>doğrudan beden, kalıp veya uyum problemlerinden kaynaklanmaktadır.</a:t>
            </a:r>
            <a:endParaRPr lang="tr-TR" altLang="tr-TR" sz="1400" dirty="0">
              <a:latin typeface="Arial" panose="020B0604020202020204" pitchFamily="34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ayné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00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3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Ayné: alışverişin dijital aynası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amacı, online kıyafet alışverişindeki beden ve uyum belirsizliğini ortadan kaldırmaktır. Ayné, e-ticaret platformlarına entegre olan yapay zekâ destekli bir sanal deneme ve beden öneri sistemidir; kullanıcı canlı kamerada kıyafeti üzerinde görür ve sistem ona en uygun bedeni önerir.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2606040" cy="31089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4ECE6"/>
            </a:solidFill>
            <a:prstDash val="solid"/>
          </a:ln>
          <a:effectLst>
            <a:outerShdw blurRad="88900" dist="25400" dir="5400000" algn="bl" rotWithShape="0">
              <a:srgbClr val="DED4CE">
                <a:alpha val="5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60120" y="3200400"/>
            <a:ext cx="868680" cy="868680"/>
          </a:xfrm>
          <a:prstGeom prst="ellipse">
            <a:avLst/>
          </a:prstGeom>
          <a:solidFill>
            <a:srgbClr val="F0DCD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977" y="342625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4251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deneme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" y="47091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Seçilen kıyafet, canlı kamerada kişinin üzerinde gerçek zamanlı görünür.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38144" y="2880360"/>
            <a:ext cx="2606040" cy="31089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4ECE6"/>
            </a:solidFill>
            <a:prstDash val="solid"/>
          </a:ln>
          <a:effectLst>
            <a:outerShdw blurRad="88900" dist="25400" dir="5400000" algn="bl" rotWithShape="0">
              <a:srgbClr val="DED4CE">
                <a:alpha val="5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758184" y="3200400"/>
            <a:ext cx="868680" cy="868680"/>
          </a:xfrm>
          <a:prstGeom prst="ellipse">
            <a:avLst/>
          </a:prstGeom>
          <a:solidFill>
            <a:srgbClr val="ECDDE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041" y="342625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4251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 tavsiyesi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694176" y="47091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Boy-kilo oranlarından kişinin doğru bedeni otomatik belirlenir.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36208" y="2880360"/>
            <a:ext cx="2606040" cy="31089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4ECE6"/>
            </a:solidFill>
            <a:prstDash val="solid"/>
          </a:ln>
          <a:effectLst>
            <a:outerShdw blurRad="88900" dist="25400" dir="5400000" algn="bl" rotWithShape="0">
              <a:srgbClr val="DED4CE">
                <a:alpha val="5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556248" y="3200400"/>
            <a:ext cx="868680" cy="868680"/>
          </a:xfrm>
          <a:prstGeom prst="ellipse">
            <a:avLst/>
          </a:prstGeom>
          <a:solidFill>
            <a:srgbClr val="E3EAE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105" y="3426257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4251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bedende görünüm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92240" y="47091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Kıyafet, önerilen bedende giydirilir; hem uyum hem görünüm netleşir.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34272" y="2880360"/>
            <a:ext cx="2606040" cy="310896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F4ECE6"/>
            </a:solidFill>
            <a:prstDash val="solid"/>
          </a:ln>
          <a:effectLst>
            <a:outerShdw blurRad="88900" dist="25400" dir="5400000" algn="bl" rotWithShape="0">
              <a:srgbClr val="DED4CE">
                <a:alpha val="5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354312" y="3200400"/>
            <a:ext cx="868680" cy="868680"/>
          </a:xfrm>
          <a:prstGeom prst="ellipse">
            <a:avLst/>
          </a:prstGeom>
          <a:solidFill>
            <a:srgbClr val="F5E7C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0169" y="3426257"/>
            <a:ext cx="416966" cy="41696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0304" y="4251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Kolay entegrasyon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290304" y="47091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E-ticaret platformlarına API ile bağlanır, satışa hazır çalışır.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ayné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400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 AKIŞI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3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Nasıl çalışır?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F4ECE6"/>
            </a:solidFill>
            <a:prstDash val="solid"/>
          </a:ln>
          <a:effectLst>
            <a:outerShdw blurRad="88900" dist="25400" dir="5400000" algn="bl" rotWithShape="0">
              <a:srgbClr val="DED4CE">
                <a:alpha val="5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60120" y="2468880"/>
            <a:ext cx="1005840" cy="1005840"/>
          </a:xfrm>
          <a:prstGeom prst="ellipse">
            <a:avLst/>
          </a:prstGeom>
          <a:solidFill>
            <a:srgbClr val="F0DCD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638" y="273039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1752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F4ECE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96012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 &amp; kilo girilir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206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boy-kilo bilgisini girer, kameraya poz verir.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096512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434840" y="2148840"/>
            <a:ext cx="342900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F4ECE6"/>
            </a:solidFill>
            <a:prstDash val="solid"/>
          </a:ln>
          <a:effectLst>
            <a:outerShdw blurRad="88900" dist="25400" dir="5400000" algn="bl" rotWithShape="0">
              <a:srgbClr val="DED4CE">
                <a:alpha val="5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754880" y="2468880"/>
            <a:ext cx="1005840" cy="1005840"/>
          </a:xfrm>
          <a:prstGeom prst="ellipse">
            <a:avLst/>
          </a:prstGeom>
          <a:solidFill>
            <a:srgbClr val="ECDDE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398" y="2730398"/>
            <a:ext cx="482803" cy="482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1228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F4ECE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47548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 bulunur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54880" y="4206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vücut oranlarını marka beden tablosuyla eşleştirir ve doğru bedeni önerir.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891272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8229600" y="2148840"/>
            <a:ext cx="342900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F4ECE6"/>
            </a:solidFill>
            <a:prstDash val="solid"/>
          </a:ln>
          <a:effectLst>
            <a:outerShdw blurRad="88900" dist="25400" dir="5400000" algn="bl" rotWithShape="0">
              <a:srgbClr val="DED4CE">
                <a:alpha val="5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8549640" y="2468880"/>
            <a:ext cx="1005840" cy="1005840"/>
          </a:xfrm>
          <a:prstGeom prst="ellipse">
            <a:avLst/>
          </a:prstGeom>
          <a:solidFill>
            <a:srgbClr val="E3EAE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1158" y="2730398"/>
            <a:ext cx="482803" cy="482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60704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F4ECE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4600" dirty="0"/>
          </a:p>
        </p:txBody>
      </p:sp>
      <p:sp>
        <p:nvSpPr>
          <p:cNvPr id="22" name="Text 17"/>
          <p:cNvSpPr/>
          <p:nvPr/>
        </p:nvSpPr>
        <p:spPr>
          <a:xfrm>
            <a:off x="85496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bedende giydirilir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549640" y="4206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Seçilen kıyafet, önerilen bedende canlı kamerada kişiye giydirilerek gösterilir.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kullanıcı hem doğru bedeni öğrenir hem de kıyafeti üzerinde görür — tek adımda karar.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ayné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400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1 · PROJE TANIMI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3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Hedef kitle ve kapsam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KİTLE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31520" cy="731520"/>
          </a:xfrm>
          <a:prstGeom prst="ellipse">
            <a:avLst/>
          </a:prstGeom>
          <a:solidFill>
            <a:srgbClr val="F0DCD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23390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945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satış yapan giyim firmaları ve e-ticaret platformları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731520" cy="731520"/>
          </a:xfrm>
          <a:prstGeom prst="ellipse">
            <a:avLst/>
          </a:prstGeom>
          <a:solidFill>
            <a:srgbClr val="F0DCD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" y="3390595"/>
            <a:ext cx="351130" cy="3511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246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kanalını güçlendirmek isteyen mağazalar ve markalar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4251960"/>
            <a:ext cx="731520" cy="731520"/>
          </a:xfrm>
          <a:prstGeom prst="ellipse">
            <a:avLst/>
          </a:prstGeom>
          <a:solidFill>
            <a:srgbClr val="F0DCD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" y="444215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42976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Dolaylı olarak: doğru beden ve görünümü arayan son kullanıcılar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400800" y="173736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4E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66751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675120" y="224028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Vücut ölçüsü &amp; poz tahmini, beden öneri algoritması, kıyafet giydirme (try-on) modeli, canlı kamera ile gerçek zamanlı işleme ve e-ticaret entegrasyonu (API). İlk faz: tek kategori + pilot mağaza.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388620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F4EC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6675120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 DIŞI (İLK FAZ)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720840" y="437083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 içi donanım (akıllı ayna, kiosk) kurulumu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Ayakkabı ve aksesuar denemesi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ayné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3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İş kırılım yapısı (WBS)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ayné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00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9" name="Rounded Rectangle 58"/>
          <p:cNvSpPr/>
          <p:nvPr/>
        </p:nvSpPr>
        <p:spPr>
          <a:xfrm>
            <a:off x="640080" y="182880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22959" y="2011680"/>
            <a:ext cx="502920" cy="502920"/>
          </a:xfrm>
          <a:prstGeom prst="ellipse">
            <a:avLst/>
          </a:prstGeom>
          <a:solidFill>
            <a:srgbClr val="F0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3E3540"/>
                </a:solidFill>
                <a:latin typeface="Calibri"/>
              </a:rPr>
              <a:t>1.0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63040" y="2029968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3E3540"/>
                </a:solidFill>
                <a:latin typeface="Calibri"/>
              </a:rPr>
              <a:t>Pazar &amp; Piyasa Analizi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59" y="2788920"/>
            <a:ext cx="2148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8C8088"/>
                </a:solidFill>
                <a:latin typeface="Calibri"/>
              </a:rPr>
              <a:t>  Rakip &amp; segment </a:t>
            </a:r>
            <a:r>
              <a:rPr sz="1000" b="0" dirty="0" err="1">
                <a:solidFill>
                  <a:srgbClr val="8C8088"/>
                </a:solidFill>
                <a:latin typeface="Calibri"/>
              </a:rPr>
              <a:t>analizi</a:t>
            </a:r>
            <a:endParaRPr sz="1000" b="0" dirty="0">
              <a:solidFill>
                <a:srgbClr val="8C8088"/>
              </a:solidFill>
              <a:latin typeface="Calibri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429000" y="182880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3611880" y="2011680"/>
            <a:ext cx="502920" cy="502920"/>
          </a:xfrm>
          <a:prstGeom prst="ellipse">
            <a:avLst/>
          </a:prstGeom>
          <a:solidFill>
            <a:srgbClr val="EC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3E3540"/>
                </a:solidFill>
                <a:latin typeface="Calibri"/>
              </a:rPr>
              <a:t>2.0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51960" y="2029968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3E3540"/>
                </a:solidFill>
                <a:latin typeface="Calibri"/>
              </a:rPr>
              <a:t>Planlama &amp; Gereksinim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11880" y="2788920"/>
            <a:ext cx="2148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000" b="0" dirty="0">
                <a:solidFill>
                  <a:srgbClr val="8C8088"/>
                </a:solidFill>
                <a:latin typeface="Calibri"/>
              </a:rPr>
              <a:t>  </a:t>
            </a:r>
            <a:r>
              <a:rPr sz="1000" b="0" dirty="0" err="1">
                <a:solidFill>
                  <a:srgbClr val="8C8088"/>
                </a:solidFill>
                <a:latin typeface="Calibri"/>
              </a:rPr>
              <a:t>Kapsam</a:t>
            </a:r>
            <a:r>
              <a:rPr sz="1000" b="0" dirty="0">
                <a:solidFill>
                  <a:srgbClr val="8C8088"/>
                </a:solidFill>
                <a:latin typeface="Calibri"/>
              </a:rPr>
              <a:t> &amp; </a:t>
            </a:r>
            <a:r>
              <a:rPr sz="1000" b="0" dirty="0" err="1">
                <a:solidFill>
                  <a:srgbClr val="8C8088"/>
                </a:solidFill>
                <a:latin typeface="Calibri"/>
              </a:rPr>
              <a:t>veri</a:t>
            </a:r>
            <a:r>
              <a:rPr sz="1000" b="0" dirty="0">
                <a:solidFill>
                  <a:srgbClr val="8C8088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8C8088"/>
                </a:solidFill>
                <a:latin typeface="Calibri"/>
              </a:rPr>
              <a:t>planı</a:t>
            </a:r>
            <a:endParaRPr sz="1000" b="0" dirty="0">
              <a:solidFill>
                <a:srgbClr val="8C8088"/>
              </a:solidFill>
              <a:latin typeface="Calibri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6217920" y="182880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400800" y="2011680"/>
            <a:ext cx="502920" cy="502920"/>
          </a:xfrm>
          <a:prstGeom prst="ellipse">
            <a:avLst/>
          </a:prstGeom>
          <a:solidFill>
            <a:srgbClr val="E3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3E3540"/>
                </a:solidFill>
                <a:latin typeface="Calibri"/>
              </a:rPr>
              <a:t>3.0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0880" y="2029968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3E3540"/>
                </a:solidFill>
                <a:latin typeface="Calibri"/>
              </a:rPr>
              <a:t>Vücut Ölçüsü &amp; Poz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2788920"/>
            <a:ext cx="2148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8C8088"/>
                </a:solidFill>
                <a:latin typeface="Calibri"/>
              </a:rPr>
              <a:t>  Boy-kilo → </a:t>
            </a:r>
            <a:r>
              <a:rPr sz="1000" b="0" dirty="0" err="1">
                <a:solidFill>
                  <a:srgbClr val="8C8088"/>
                </a:solidFill>
                <a:latin typeface="Calibri"/>
              </a:rPr>
              <a:t>oranlar</a:t>
            </a:r>
            <a:endParaRPr sz="1000" b="0" dirty="0">
              <a:solidFill>
                <a:srgbClr val="8C8088"/>
              </a:solidFill>
              <a:latin typeface="Calibri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9006840" y="182880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189719" y="2011680"/>
            <a:ext cx="502920" cy="502920"/>
          </a:xfrm>
          <a:prstGeom prst="ellipse">
            <a:avLst/>
          </a:prstGeom>
          <a:solidFill>
            <a:srgbClr val="F5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3E3540"/>
                </a:solidFill>
                <a:latin typeface="Calibri"/>
              </a:rPr>
              <a:t>4.0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29800" y="2029968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3E3540"/>
                </a:solidFill>
                <a:latin typeface="Calibri"/>
              </a:rPr>
              <a:t>Beden Önerisi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89719" y="2788920"/>
            <a:ext cx="2148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8C8088"/>
                </a:solidFill>
                <a:latin typeface="Calibri"/>
              </a:rPr>
              <a:t>  Beden </a:t>
            </a:r>
            <a:r>
              <a:rPr sz="1000" b="0" dirty="0" err="1">
                <a:solidFill>
                  <a:srgbClr val="8C8088"/>
                </a:solidFill>
                <a:latin typeface="Calibri"/>
              </a:rPr>
              <a:t>eşleştirme</a:t>
            </a:r>
            <a:endParaRPr sz="1000" b="0" dirty="0">
              <a:solidFill>
                <a:srgbClr val="8C8088"/>
              </a:solidFill>
              <a:latin typeface="Calibri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640080" y="370332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822959" y="3886200"/>
            <a:ext cx="502920" cy="502920"/>
          </a:xfrm>
          <a:prstGeom prst="ellipse">
            <a:avLst/>
          </a:prstGeom>
          <a:solidFill>
            <a:srgbClr val="F0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3E3540"/>
                </a:solidFill>
                <a:latin typeface="Calibri"/>
              </a:rPr>
              <a:t>5.0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63040" y="3904487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3E3540"/>
                </a:solidFill>
                <a:latin typeface="Calibri"/>
              </a:rPr>
              <a:t>Giydirme (Try-on) Modeli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59" y="4663440"/>
            <a:ext cx="2148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8C8088"/>
                </a:solidFill>
                <a:latin typeface="Calibri"/>
              </a:rPr>
              <a:t>  Try-on </a:t>
            </a:r>
            <a:r>
              <a:rPr sz="1000" b="0" dirty="0" err="1">
                <a:solidFill>
                  <a:srgbClr val="8C8088"/>
                </a:solidFill>
                <a:latin typeface="Calibri"/>
              </a:rPr>
              <a:t>görüntüsü</a:t>
            </a:r>
            <a:endParaRPr sz="1000" b="0" dirty="0">
              <a:solidFill>
                <a:srgbClr val="8C8088"/>
              </a:solidFill>
              <a:latin typeface="Calibri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3429000" y="370332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3611880" y="3886200"/>
            <a:ext cx="502920" cy="502920"/>
          </a:xfrm>
          <a:prstGeom prst="ellipse">
            <a:avLst/>
          </a:prstGeom>
          <a:solidFill>
            <a:srgbClr val="EC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3E3540"/>
                </a:solidFill>
                <a:latin typeface="Calibri"/>
              </a:rPr>
              <a:t>6.0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51960" y="3904487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3E3540"/>
                </a:solidFill>
                <a:latin typeface="Calibri"/>
              </a:rPr>
              <a:t>Canlı Kamera &amp; Entegrasyon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11880" y="4663440"/>
            <a:ext cx="2148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8C8088"/>
                </a:solidFill>
                <a:latin typeface="Calibri"/>
              </a:rPr>
              <a:t>  </a:t>
            </a:r>
            <a:r>
              <a:rPr sz="1000" b="0" dirty="0" err="1">
                <a:solidFill>
                  <a:srgbClr val="8C8088"/>
                </a:solidFill>
                <a:latin typeface="Calibri"/>
              </a:rPr>
              <a:t>Canlı</a:t>
            </a:r>
            <a:r>
              <a:rPr sz="1000" b="0" dirty="0">
                <a:solidFill>
                  <a:srgbClr val="8C8088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8C8088"/>
                </a:solidFill>
                <a:latin typeface="Calibri"/>
              </a:rPr>
              <a:t>kamera</a:t>
            </a:r>
            <a:r>
              <a:rPr sz="1000" b="0" dirty="0">
                <a:solidFill>
                  <a:srgbClr val="8C8088"/>
                </a:solidFill>
                <a:latin typeface="Calibri"/>
              </a:rPr>
              <a:t> &amp; API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17920" y="370332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6400800" y="3886200"/>
            <a:ext cx="502920" cy="502920"/>
          </a:xfrm>
          <a:prstGeom prst="ellipse">
            <a:avLst/>
          </a:prstGeom>
          <a:solidFill>
            <a:srgbClr val="E3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3E3540"/>
                </a:solidFill>
                <a:latin typeface="Calibri"/>
              </a:rPr>
              <a:t>7.0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40880" y="3904487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3E3540"/>
                </a:solidFill>
                <a:latin typeface="Calibri"/>
              </a:rPr>
              <a:t>Pilot Mağaza &amp; Anlaşma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0" y="4663440"/>
            <a:ext cx="2148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8C8088"/>
                </a:solidFill>
                <a:latin typeface="Calibri"/>
              </a:rPr>
              <a:t>  Aday </a:t>
            </a:r>
            <a:r>
              <a:rPr sz="1000" b="0" dirty="0" err="1">
                <a:solidFill>
                  <a:srgbClr val="8C8088"/>
                </a:solidFill>
                <a:latin typeface="Calibri"/>
              </a:rPr>
              <a:t>mağaza</a:t>
            </a:r>
            <a:r>
              <a:rPr sz="1000" b="0" dirty="0">
                <a:solidFill>
                  <a:srgbClr val="8C8088"/>
                </a:solidFill>
                <a:latin typeface="Calibri"/>
              </a:rPr>
              <a:t> &amp; </a:t>
            </a:r>
            <a:r>
              <a:rPr sz="1000" b="0" dirty="0" err="1">
                <a:solidFill>
                  <a:srgbClr val="8C8088"/>
                </a:solidFill>
                <a:latin typeface="Calibri"/>
              </a:rPr>
              <a:t>sözleşme</a:t>
            </a:r>
            <a:endParaRPr sz="1000" b="0" dirty="0">
              <a:solidFill>
                <a:srgbClr val="8C8088"/>
              </a:solidFill>
              <a:latin typeface="Calibri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9006840" y="370332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9189719" y="3886200"/>
            <a:ext cx="502920" cy="502920"/>
          </a:xfrm>
          <a:prstGeom prst="ellipse">
            <a:avLst/>
          </a:prstGeom>
          <a:solidFill>
            <a:srgbClr val="F5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3E3540"/>
                </a:solidFill>
                <a:latin typeface="Calibri"/>
              </a:rPr>
              <a:t>8.0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829800" y="3904487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3E3540"/>
                </a:solidFill>
                <a:latin typeface="Calibri"/>
              </a:rPr>
              <a:t>Test, Pilot &amp; Yayın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89719" y="4663440"/>
            <a:ext cx="2148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8C8088"/>
                </a:solidFill>
                <a:latin typeface="Calibri"/>
              </a:rPr>
              <a:t>  Pilot &amp; </a:t>
            </a:r>
            <a:r>
              <a:rPr sz="1000" b="0" dirty="0" err="1">
                <a:solidFill>
                  <a:srgbClr val="8C8088"/>
                </a:solidFill>
                <a:latin typeface="Calibri"/>
              </a:rPr>
              <a:t>canlıya</a:t>
            </a:r>
            <a:r>
              <a:rPr sz="1000" b="0" dirty="0">
                <a:solidFill>
                  <a:srgbClr val="8C8088"/>
                </a:solidFill>
                <a:latin typeface="Calibri"/>
              </a:rPr>
              <a:t> alma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3E3540"/>
                </a:solidFill>
                <a:latin typeface="Century Schoolbook"/>
              </a:rPr>
              <a:t>Faaliyet </a:t>
            </a:r>
            <a:r>
              <a:rPr sz="3000" b="1" dirty="0" err="1">
                <a:solidFill>
                  <a:srgbClr val="3E3540"/>
                </a:solidFill>
                <a:latin typeface="Century Schoolbook"/>
              </a:rPr>
              <a:t>listesi</a:t>
            </a:r>
            <a:r>
              <a:rPr sz="3000" b="1" dirty="0">
                <a:solidFill>
                  <a:srgbClr val="3E3540"/>
                </a:solidFill>
                <a:latin typeface="Century Schoolbook"/>
              </a:rPr>
              <a:t> </a:t>
            </a:r>
            <a:r>
              <a:rPr sz="3000" b="1" dirty="0" err="1">
                <a:solidFill>
                  <a:srgbClr val="3E3540"/>
                </a:solidFill>
                <a:latin typeface="Century Schoolbook"/>
              </a:rPr>
              <a:t>ve</a:t>
            </a:r>
            <a:r>
              <a:rPr sz="3000" b="1" dirty="0">
                <a:solidFill>
                  <a:srgbClr val="3E3540"/>
                </a:solidFill>
                <a:latin typeface="Century Schoolbook"/>
              </a:rPr>
              <a:t> </a:t>
            </a:r>
            <a:r>
              <a:rPr sz="3000" b="1" dirty="0" err="1">
                <a:solidFill>
                  <a:srgbClr val="3E3540"/>
                </a:solidFill>
                <a:latin typeface="Century Schoolbook"/>
              </a:rPr>
              <a:t>iş</a:t>
            </a:r>
            <a:r>
              <a:rPr sz="3000" b="1" dirty="0">
                <a:solidFill>
                  <a:srgbClr val="3E3540"/>
                </a:solidFill>
                <a:latin typeface="Century Schoolbook"/>
              </a:rPr>
              <a:t> </a:t>
            </a:r>
            <a:r>
              <a:rPr sz="3000" b="1" dirty="0" err="1">
                <a:solidFill>
                  <a:srgbClr val="3E3540"/>
                </a:solidFill>
                <a:latin typeface="Century Schoolbook"/>
              </a:rPr>
              <a:t>akışı</a:t>
            </a:r>
            <a:endParaRPr sz="3000" b="1" dirty="0">
              <a:solidFill>
                <a:srgbClr val="3E3540"/>
              </a:solidFill>
              <a:latin typeface="Century Schoolboo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C8088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088"/>
                </a:solidFill>
                <a:latin typeface="Century Schoolbook"/>
              </a:rPr>
              <a:t>ayné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ctr"/>
            <a:r>
              <a:rPr sz="1100" b="1" dirty="0">
                <a:solidFill>
                  <a:srgbClr val="3E3540"/>
                </a:solidFill>
                <a:latin typeface="Calibri"/>
              </a:rPr>
              <a:t>1.0  Pazar &amp; Piyasa </a:t>
            </a:r>
            <a:r>
              <a:rPr sz="1100" b="1" dirty="0" err="1">
                <a:solidFill>
                  <a:srgbClr val="3E3540"/>
                </a:solidFill>
                <a:latin typeface="Calibri"/>
              </a:rPr>
              <a:t>Analizi</a:t>
            </a:r>
            <a:endParaRPr lang="tr-TR" sz="1100" b="1" dirty="0">
              <a:solidFill>
                <a:srgbClr val="3E3540"/>
              </a:solidFill>
              <a:latin typeface="Calibri"/>
            </a:endParaRPr>
          </a:p>
          <a:p>
            <a:pPr algn="ctr"/>
            <a:endParaRPr sz="1100" b="1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Rakip &amp;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pazar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araştırması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Hedef</a:t>
            </a:r>
            <a:r>
              <a:rPr sz="950" dirty="0">
                <a:solidFill>
                  <a:srgbClr val="3E3540"/>
                </a:solidFill>
                <a:latin typeface="Calibri"/>
              </a:rPr>
              <a:t> segment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analizi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Fiyatlandırma</a:t>
            </a:r>
            <a:r>
              <a:rPr sz="950" dirty="0">
                <a:solidFill>
                  <a:srgbClr val="3E3540"/>
                </a:solidFill>
                <a:latin typeface="Calibri"/>
              </a:rPr>
              <a:t> /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iş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modeli</a:t>
            </a:r>
            <a:endParaRPr sz="950" dirty="0">
              <a:solidFill>
                <a:srgbClr val="3E3540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ctr"/>
            <a:r>
              <a:rPr sz="1100" b="1" dirty="0">
                <a:solidFill>
                  <a:srgbClr val="3E3540"/>
                </a:solidFill>
                <a:latin typeface="Calibri"/>
              </a:rPr>
              <a:t>2.0  </a:t>
            </a:r>
            <a:r>
              <a:rPr sz="1100" b="1" dirty="0" err="1">
                <a:solidFill>
                  <a:srgbClr val="3E3540"/>
                </a:solidFill>
                <a:latin typeface="Calibri"/>
              </a:rPr>
              <a:t>Planlama</a:t>
            </a:r>
            <a:r>
              <a:rPr sz="1100" b="1" dirty="0">
                <a:solidFill>
                  <a:srgbClr val="3E3540"/>
                </a:solidFill>
                <a:latin typeface="Calibri"/>
              </a:rPr>
              <a:t> &amp; </a:t>
            </a:r>
            <a:r>
              <a:rPr sz="1100" b="1" dirty="0" err="1">
                <a:solidFill>
                  <a:srgbClr val="3E3540"/>
                </a:solidFill>
                <a:latin typeface="Calibri"/>
              </a:rPr>
              <a:t>Gereksinim</a:t>
            </a:r>
            <a:endParaRPr lang="tr-TR" sz="1100" b="1" dirty="0">
              <a:solidFill>
                <a:srgbClr val="3E3540"/>
              </a:solidFill>
              <a:latin typeface="Calibri"/>
            </a:endParaRPr>
          </a:p>
          <a:p>
            <a:pPr algn="ctr"/>
            <a:endParaRPr sz="1100" b="1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Gereksinim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analizi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Kapsam</a:t>
            </a:r>
            <a:r>
              <a:rPr sz="950" dirty="0">
                <a:solidFill>
                  <a:srgbClr val="3E3540"/>
                </a:solidFill>
                <a:latin typeface="Calibri"/>
              </a:rPr>
              <a:t> &amp;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hedef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belirleme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Veri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toplama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planı</a:t>
            </a:r>
            <a:endParaRPr sz="950" dirty="0">
              <a:solidFill>
                <a:srgbClr val="3E3540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ctr"/>
            <a:r>
              <a:rPr sz="1100" b="1" dirty="0">
                <a:solidFill>
                  <a:srgbClr val="3E3540"/>
                </a:solidFill>
                <a:latin typeface="Calibri"/>
              </a:rPr>
              <a:t>3.0  </a:t>
            </a:r>
            <a:r>
              <a:rPr sz="1100" b="1" dirty="0" err="1">
                <a:solidFill>
                  <a:srgbClr val="3E3540"/>
                </a:solidFill>
                <a:latin typeface="Calibri"/>
              </a:rPr>
              <a:t>Vücut</a:t>
            </a:r>
            <a:r>
              <a:rPr sz="1100" b="1" dirty="0">
                <a:solidFill>
                  <a:srgbClr val="3E3540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3E3540"/>
                </a:solidFill>
                <a:latin typeface="Calibri"/>
              </a:rPr>
              <a:t>Ölçüsü</a:t>
            </a:r>
            <a:r>
              <a:rPr sz="1100" b="1" dirty="0">
                <a:solidFill>
                  <a:srgbClr val="3E3540"/>
                </a:solidFill>
                <a:latin typeface="Calibri"/>
              </a:rPr>
              <a:t> &amp; Poz</a:t>
            </a:r>
            <a:endParaRPr lang="tr-TR" sz="1100" b="1" dirty="0">
              <a:solidFill>
                <a:srgbClr val="3E3540"/>
              </a:solidFill>
              <a:latin typeface="Calibri"/>
            </a:endParaRPr>
          </a:p>
          <a:p>
            <a:pPr algn="ctr"/>
            <a:endParaRPr sz="1100" b="1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Veri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seti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toplama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Poz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tahmin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modeli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Doğrulama</a:t>
            </a:r>
            <a:r>
              <a:rPr sz="950" dirty="0">
                <a:solidFill>
                  <a:srgbClr val="3E3540"/>
                </a:solidFill>
                <a:latin typeface="Calibri"/>
              </a:rPr>
              <a:t> &amp;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82880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ctr"/>
            <a:r>
              <a:rPr sz="1100" b="1" dirty="0">
                <a:solidFill>
                  <a:srgbClr val="3E3540"/>
                </a:solidFill>
                <a:latin typeface="Calibri"/>
              </a:rPr>
              <a:t>4.0  Beden Önerisi</a:t>
            </a:r>
            <a:endParaRPr lang="tr-TR" sz="1100" b="1" dirty="0">
              <a:solidFill>
                <a:srgbClr val="3E3540"/>
              </a:solidFill>
              <a:latin typeface="Calibri"/>
            </a:endParaRPr>
          </a:p>
          <a:p>
            <a:pPr algn="ctr"/>
            <a:endParaRPr sz="1100" b="1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Marka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beden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tablosu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Eşleştirme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algoritması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Kalibrasyon</a:t>
            </a:r>
            <a:endParaRPr sz="950" dirty="0">
              <a:solidFill>
                <a:srgbClr val="3E3540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ctr"/>
            <a:r>
              <a:rPr sz="1100" b="1" dirty="0">
                <a:solidFill>
                  <a:srgbClr val="3E3540"/>
                </a:solidFill>
                <a:latin typeface="Calibri"/>
              </a:rPr>
              <a:t>5.0  </a:t>
            </a:r>
            <a:r>
              <a:rPr sz="1100" b="1" dirty="0" err="1">
                <a:solidFill>
                  <a:srgbClr val="3E3540"/>
                </a:solidFill>
                <a:latin typeface="Calibri"/>
              </a:rPr>
              <a:t>Giydirme</a:t>
            </a:r>
            <a:r>
              <a:rPr sz="1100" b="1" dirty="0">
                <a:solidFill>
                  <a:srgbClr val="3E3540"/>
                </a:solidFill>
                <a:latin typeface="Calibri"/>
              </a:rPr>
              <a:t> (Try-on) </a:t>
            </a:r>
            <a:r>
              <a:rPr sz="1100" b="1" dirty="0" err="1">
                <a:solidFill>
                  <a:srgbClr val="3E3540"/>
                </a:solidFill>
                <a:latin typeface="Calibri"/>
              </a:rPr>
              <a:t>Modeli</a:t>
            </a:r>
            <a:endParaRPr lang="tr-TR" sz="1100" b="1" dirty="0">
              <a:solidFill>
                <a:srgbClr val="3E3540"/>
              </a:solidFill>
              <a:latin typeface="Calibri"/>
            </a:endParaRPr>
          </a:p>
          <a:p>
            <a:pPr algn="ctr"/>
            <a:endParaRPr sz="1100" b="1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Görüntü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işleme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Model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eğitimi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Görsel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iyileştirme</a:t>
            </a:r>
            <a:endParaRPr sz="950" dirty="0">
              <a:solidFill>
                <a:srgbClr val="3E3540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29000" y="370332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ctr"/>
            <a:r>
              <a:rPr sz="1100" b="1" dirty="0">
                <a:solidFill>
                  <a:srgbClr val="3E3540"/>
                </a:solidFill>
                <a:latin typeface="Calibri"/>
              </a:rPr>
              <a:t>6.0  </a:t>
            </a:r>
            <a:r>
              <a:rPr sz="1100" b="1" dirty="0" err="1">
                <a:solidFill>
                  <a:srgbClr val="3E3540"/>
                </a:solidFill>
                <a:latin typeface="Calibri"/>
              </a:rPr>
              <a:t>Canlı</a:t>
            </a:r>
            <a:r>
              <a:rPr sz="1100" b="1" dirty="0">
                <a:solidFill>
                  <a:srgbClr val="3E3540"/>
                </a:solidFill>
                <a:latin typeface="Calibri"/>
              </a:rPr>
              <a:t> Kamera &amp; </a:t>
            </a:r>
            <a:r>
              <a:rPr sz="1100" b="1" dirty="0" err="1">
                <a:solidFill>
                  <a:srgbClr val="3E3540"/>
                </a:solidFill>
                <a:latin typeface="Calibri"/>
              </a:rPr>
              <a:t>Entegrasyon</a:t>
            </a:r>
            <a:endParaRPr lang="tr-TR" sz="1100" b="1" dirty="0">
              <a:solidFill>
                <a:srgbClr val="3E3540"/>
              </a:solidFill>
              <a:latin typeface="Calibri"/>
            </a:endParaRPr>
          </a:p>
          <a:p>
            <a:pPr algn="ctr"/>
            <a:endParaRPr sz="1100" b="1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Gerçek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zamanlı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işleme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API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geliştirme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E-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ticaret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entegrasyonu</a:t>
            </a:r>
            <a:endParaRPr sz="950" dirty="0">
              <a:solidFill>
                <a:srgbClr val="3E3540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370332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ctr"/>
            <a:r>
              <a:rPr sz="1100" b="1" dirty="0">
                <a:solidFill>
                  <a:srgbClr val="3E3540"/>
                </a:solidFill>
                <a:latin typeface="Calibri"/>
              </a:rPr>
              <a:t>7.0  Pilot </a:t>
            </a:r>
            <a:r>
              <a:rPr sz="1100" b="1" dirty="0" err="1">
                <a:solidFill>
                  <a:srgbClr val="3E3540"/>
                </a:solidFill>
                <a:latin typeface="Calibri"/>
              </a:rPr>
              <a:t>Mağaza</a:t>
            </a:r>
            <a:r>
              <a:rPr sz="1100" b="1" dirty="0">
                <a:solidFill>
                  <a:srgbClr val="3E3540"/>
                </a:solidFill>
                <a:latin typeface="Calibri"/>
              </a:rPr>
              <a:t> &amp; </a:t>
            </a:r>
            <a:r>
              <a:rPr sz="1100" b="1" dirty="0" err="1">
                <a:solidFill>
                  <a:srgbClr val="3E3540"/>
                </a:solidFill>
                <a:latin typeface="Calibri"/>
              </a:rPr>
              <a:t>Anlaşma</a:t>
            </a:r>
            <a:endParaRPr lang="tr-TR" sz="1100" b="1" dirty="0">
              <a:solidFill>
                <a:srgbClr val="3E3540"/>
              </a:solidFill>
              <a:latin typeface="Calibri"/>
            </a:endParaRPr>
          </a:p>
          <a:p>
            <a:pPr algn="ctr"/>
            <a:endParaRPr sz="1100" b="1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Aday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mağaza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belirleme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Görüşme</a:t>
            </a:r>
            <a:r>
              <a:rPr sz="950" dirty="0">
                <a:solidFill>
                  <a:srgbClr val="3E3540"/>
                </a:solidFill>
                <a:latin typeface="Calibri"/>
              </a:rPr>
              <a:t> &amp; demo</a:t>
            </a: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Sözleşme</a:t>
            </a:r>
            <a:r>
              <a:rPr sz="950" dirty="0">
                <a:solidFill>
                  <a:srgbClr val="3E3540"/>
                </a:solidFill>
                <a:latin typeface="Calibri"/>
              </a:rPr>
              <a:t> &amp; KVKK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protokolü</a:t>
            </a:r>
            <a:endParaRPr sz="950" dirty="0">
              <a:solidFill>
                <a:srgbClr val="3E3540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006840" y="3703320"/>
            <a:ext cx="2514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ctr"/>
            <a:r>
              <a:rPr sz="1100" b="1" dirty="0">
                <a:solidFill>
                  <a:srgbClr val="3E3540"/>
                </a:solidFill>
                <a:latin typeface="Calibri"/>
              </a:rPr>
              <a:t>8.0  Test, Pilot &amp; </a:t>
            </a:r>
            <a:r>
              <a:rPr sz="1100" b="1" dirty="0" err="1">
                <a:solidFill>
                  <a:srgbClr val="3E3540"/>
                </a:solidFill>
                <a:latin typeface="Calibri"/>
              </a:rPr>
              <a:t>Yayın</a:t>
            </a:r>
            <a:endParaRPr lang="tr-TR" sz="1100" b="1" dirty="0">
              <a:solidFill>
                <a:srgbClr val="3E3540"/>
              </a:solidFill>
              <a:latin typeface="Calibri"/>
            </a:endParaRPr>
          </a:p>
          <a:p>
            <a:pPr algn="ctr"/>
            <a:endParaRPr sz="1100" b="1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Fonksiyon</a:t>
            </a:r>
            <a:r>
              <a:rPr sz="950" dirty="0">
                <a:solidFill>
                  <a:srgbClr val="3E3540"/>
                </a:solidFill>
                <a:latin typeface="Calibri"/>
              </a:rPr>
              <a:t> &amp;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kullanıcı</a:t>
            </a:r>
            <a:r>
              <a:rPr sz="950" dirty="0">
                <a:solidFill>
                  <a:srgbClr val="3E3540"/>
                </a:solidFill>
                <a:latin typeface="Calibri"/>
              </a:rPr>
              <a:t>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testi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Pilot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mağaza</a:t>
            </a:r>
            <a:endParaRPr sz="950" dirty="0">
              <a:solidFill>
                <a:srgbClr val="3E354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3E3540"/>
                </a:solidFill>
                <a:latin typeface="Calibri"/>
              </a:rPr>
              <a:t>• </a:t>
            </a:r>
            <a:r>
              <a:rPr sz="950" dirty="0" err="1">
                <a:solidFill>
                  <a:srgbClr val="3E3540"/>
                </a:solidFill>
                <a:latin typeface="Calibri"/>
              </a:rPr>
              <a:t>Canlıya</a:t>
            </a:r>
            <a:r>
              <a:rPr sz="950" dirty="0">
                <a:solidFill>
                  <a:srgbClr val="3E3540"/>
                </a:solidFill>
                <a:latin typeface="Calibri"/>
              </a:rPr>
              <a:t> alma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E3540"/>
                </a:solidFill>
                <a:latin typeface="Calibri"/>
              </a:rPr>
              <a:t>Bağımlılık (network): pazar analizi (1.0) ve planlama (2.0) paraleldir; model geliştirme (3.0→5.0) çekirdek zinciri oluşturur; pilot mağaza anlaşması (7.0) geliştirmeyle paralel yürür ve test/yayın (8.0) için ön koşuldur.</a:t>
            </a: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D2D216FC-57B5-43D4-F0A9-E082A0B52CB7}"/>
              </a:ext>
            </a:extLst>
          </p:cNvPr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2 FAALİYET VE NETWORK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3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Zaman planı — 9 ay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ayné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3749039" y="1847088"/>
            <a:ext cx="88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088"/>
                </a:solidFill>
                <a:latin typeface="Calibri"/>
              </a:rPr>
              <a:t>Ay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8040" y="1847088"/>
            <a:ext cx="88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088"/>
                </a:solidFill>
                <a:latin typeface="Calibri"/>
              </a:rPr>
              <a:t>Ay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27040" y="1847088"/>
            <a:ext cx="88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088"/>
                </a:solidFill>
                <a:latin typeface="Calibri"/>
              </a:rPr>
              <a:t>Ay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6039" y="1847088"/>
            <a:ext cx="88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088"/>
                </a:solidFill>
                <a:latin typeface="Calibri"/>
              </a:rPr>
              <a:t>Ay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05040" y="1847088"/>
            <a:ext cx="88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088"/>
                </a:solidFill>
                <a:latin typeface="Calibri"/>
              </a:rPr>
              <a:t>Ay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4039" y="1847088"/>
            <a:ext cx="88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088"/>
                </a:solidFill>
                <a:latin typeface="Calibri"/>
              </a:rPr>
              <a:t>Ay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3040" y="1847088"/>
            <a:ext cx="88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088"/>
                </a:solidFill>
                <a:latin typeface="Calibri"/>
              </a:rPr>
              <a:t>Ay 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2040" y="1847088"/>
            <a:ext cx="88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088"/>
                </a:solidFill>
                <a:latin typeface="Calibri"/>
              </a:rPr>
              <a:t>Ay 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61039" y="1847088"/>
            <a:ext cx="88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C8088"/>
                </a:solidFill>
                <a:latin typeface="Calibri"/>
              </a:rPr>
              <a:t>Ay 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2240280"/>
            <a:ext cx="7315" cy="3218688"/>
          </a:xfrm>
          <a:prstGeom prst="rect">
            <a:avLst/>
          </a:prstGeom>
          <a:solidFill>
            <a:srgbClr val="E7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638040" y="2240280"/>
            <a:ext cx="7315" cy="3218688"/>
          </a:xfrm>
          <a:prstGeom prst="rect">
            <a:avLst/>
          </a:prstGeom>
          <a:solidFill>
            <a:srgbClr val="E7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527040" y="2240280"/>
            <a:ext cx="7315" cy="3218688"/>
          </a:xfrm>
          <a:prstGeom prst="rect">
            <a:avLst/>
          </a:prstGeom>
          <a:solidFill>
            <a:srgbClr val="E7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416039" y="2240280"/>
            <a:ext cx="7315" cy="3218688"/>
          </a:xfrm>
          <a:prstGeom prst="rect">
            <a:avLst/>
          </a:prstGeom>
          <a:solidFill>
            <a:srgbClr val="E7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305040" y="2240280"/>
            <a:ext cx="7315" cy="3218688"/>
          </a:xfrm>
          <a:prstGeom prst="rect">
            <a:avLst/>
          </a:prstGeom>
          <a:solidFill>
            <a:srgbClr val="E7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194039" y="2240280"/>
            <a:ext cx="7315" cy="3218688"/>
          </a:xfrm>
          <a:prstGeom prst="rect">
            <a:avLst/>
          </a:prstGeom>
          <a:solidFill>
            <a:srgbClr val="E7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083040" y="2240280"/>
            <a:ext cx="7315" cy="3218688"/>
          </a:xfrm>
          <a:prstGeom prst="rect">
            <a:avLst/>
          </a:prstGeom>
          <a:solidFill>
            <a:srgbClr val="E7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972040" y="2240280"/>
            <a:ext cx="7315" cy="3218688"/>
          </a:xfrm>
          <a:prstGeom prst="rect">
            <a:avLst/>
          </a:prstGeom>
          <a:solidFill>
            <a:srgbClr val="E7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861039" y="2240280"/>
            <a:ext cx="7315" cy="3218688"/>
          </a:xfrm>
          <a:prstGeom prst="rect">
            <a:avLst/>
          </a:prstGeom>
          <a:solidFill>
            <a:srgbClr val="E7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1750040" y="2240280"/>
            <a:ext cx="7315" cy="3218688"/>
          </a:xfrm>
          <a:prstGeom prst="rect">
            <a:avLst/>
          </a:prstGeom>
          <a:solidFill>
            <a:srgbClr val="E7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0080" y="2240280"/>
            <a:ext cx="11109960" cy="402336"/>
          </a:xfrm>
          <a:prstGeom prst="rect">
            <a:avLst/>
          </a:prstGeom>
          <a:solidFill>
            <a:srgbClr val="F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7240" y="227685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E3540"/>
                </a:solidFill>
                <a:latin typeface="Calibri"/>
              </a:rPr>
              <a:t>1.0  Pazar &amp; Piyasa Analizi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94759" y="2304288"/>
            <a:ext cx="1686560" cy="274320"/>
          </a:xfrm>
          <a:prstGeom prst="roundRect">
            <a:avLst/>
          </a:prstGeom>
          <a:solidFill>
            <a:srgbClr val="F0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" y="26791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E3540"/>
                </a:solidFill>
                <a:latin typeface="Calibri"/>
              </a:rPr>
              <a:t>2.0  Planlama &amp; Gereksinim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794759" y="2706624"/>
            <a:ext cx="1686560" cy="274320"/>
          </a:xfrm>
          <a:prstGeom prst="roundRect">
            <a:avLst/>
          </a:prstGeom>
          <a:solidFill>
            <a:srgbClr val="EC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40080" y="3044952"/>
            <a:ext cx="11109960" cy="402336"/>
          </a:xfrm>
          <a:prstGeom prst="rect">
            <a:avLst/>
          </a:prstGeom>
          <a:solidFill>
            <a:srgbClr val="F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77240" y="308152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E3540"/>
                </a:solidFill>
                <a:latin typeface="Calibri"/>
              </a:rPr>
              <a:t>3.0  Vücut Ölçüsü &amp; Poz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683760" y="3108960"/>
            <a:ext cx="2575560" cy="274320"/>
          </a:xfrm>
          <a:prstGeom prst="roundRect">
            <a:avLst/>
          </a:prstGeom>
          <a:solidFill>
            <a:srgbClr val="E3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77240" y="348386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E3540"/>
                </a:solidFill>
                <a:latin typeface="Calibri"/>
              </a:rPr>
              <a:t>4.0  Beden Önerisi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572760" y="3511296"/>
            <a:ext cx="2575560" cy="274320"/>
          </a:xfrm>
          <a:prstGeom prst="roundRect">
            <a:avLst/>
          </a:prstGeom>
          <a:solidFill>
            <a:srgbClr val="F5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40080" y="3849624"/>
            <a:ext cx="11109960" cy="402336"/>
          </a:xfrm>
          <a:prstGeom prst="rect">
            <a:avLst/>
          </a:prstGeom>
          <a:solidFill>
            <a:srgbClr val="F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7240" y="388620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E3540"/>
                </a:solidFill>
                <a:latin typeface="Calibri"/>
              </a:rPr>
              <a:t>5.0  Giydirme (Try-on) Modeli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572760" y="3913632"/>
            <a:ext cx="3464560" cy="274320"/>
          </a:xfrm>
          <a:prstGeom prst="roundRect">
            <a:avLst/>
          </a:prstGeom>
          <a:solidFill>
            <a:srgbClr val="F0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7240" y="428853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E3540"/>
                </a:solidFill>
                <a:latin typeface="Calibri"/>
              </a:rPr>
              <a:t>6.0  Canlı Kamera &amp; Entegrasyon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50760" y="4315968"/>
            <a:ext cx="2575560" cy="274320"/>
          </a:xfrm>
          <a:prstGeom prst="roundRect">
            <a:avLst/>
          </a:prstGeom>
          <a:solidFill>
            <a:srgbClr val="EC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40080" y="4654296"/>
            <a:ext cx="11109960" cy="402336"/>
          </a:xfrm>
          <a:prstGeom prst="rect">
            <a:avLst/>
          </a:prstGeom>
          <a:solidFill>
            <a:srgbClr val="F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77240" y="46908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E3540"/>
                </a:solidFill>
                <a:latin typeface="Calibri"/>
              </a:rPr>
              <a:t>7.0  Pilot Mağaza &amp; Anlaşma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01354" y="4718304"/>
            <a:ext cx="1724965" cy="274320"/>
          </a:xfrm>
          <a:prstGeom prst="roundRect">
            <a:avLst/>
          </a:prstGeom>
          <a:solidFill>
            <a:srgbClr val="E3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77240" y="509320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E3540"/>
                </a:solidFill>
                <a:latin typeface="Calibri"/>
              </a:rPr>
              <a:t>8.0  Test, Pilot &amp; Yayın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128760" y="5120640"/>
            <a:ext cx="2575560" cy="274320"/>
          </a:xfrm>
          <a:prstGeom prst="roundRect">
            <a:avLst/>
          </a:prstGeom>
          <a:solidFill>
            <a:srgbClr val="F5E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3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Kaynak ve bütçe planlaması</a:t>
            </a:r>
            <a:endParaRPr lang="en-US" sz="3000" dirty="0"/>
          </a:p>
        </p:txBody>
      </p:sp>
      <p:sp>
        <p:nvSpPr>
          <p:cNvPr id="17" name="Text 11"/>
          <p:cNvSpPr/>
          <p:nvPr/>
        </p:nvSpPr>
        <p:spPr>
          <a:xfrm>
            <a:off x="82753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TAHMİNİ BÜTÇE DAĞILIMI (%)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8275320" y="2148840"/>
          <a:ext cx="3246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2"/>
          <p:cNvSpPr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ayné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400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" y="1737360"/>
          <a:ext cx="722376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KALEM</a:t>
                      </a:r>
                    </a:p>
                  </a:txBody>
                  <a:tcPr marL="73152" marR="73152" marT="9144" marB="9144" anchor="ctr">
                    <a:solidFill>
                      <a:srgbClr val="3E35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TUTAR (TL)</a:t>
                      </a:r>
                    </a:p>
                  </a:txBody>
                  <a:tcPr marL="73152" marR="73152" marT="9144" marB="9144" anchor="ctr">
                    <a:solidFill>
                      <a:srgbClr val="3E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AI / görüntü işleme müh.  (150.000 × 9 ay)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1.350.000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Yazılım geliştirici  (100.000 × 7 ay)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700.000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UX/UI tasarımcı  (80.000 × 3 ay)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240.000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Proje yöneticisi  (70.000 × 9 ay, ½)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630.000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Test/QA &amp; veri gizliliği  (50.000 × 3 ay)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150.000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İş geliştirme &amp; pazar analizi  (60.000 × 4 ay)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240.000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Bulut &amp; GPU  (70.000 × 9 ay)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630.000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Görsel veri seti &amp; etiketleme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250.000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Yazılım lisans &amp; araçlar  (15.000 × 9 ay)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135.000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Pazar araştırması (rapor &amp; araçlar)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80.000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Pilot mağaza entegrasyonu &amp; saha testi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150.000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KVKK / güvenlik danışmanlığı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90.000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Beklenmedik gider  (~%8)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3E3540"/>
                          </a:solidFill>
                          <a:latin typeface="Calibri"/>
                        </a:rPr>
                        <a:t>355.000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E3540"/>
                          </a:solidFill>
                          <a:latin typeface="Calibri"/>
                        </a:rPr>
                        <a:t>GENEL TOPLAM</a:t>
                      </a:r>
                    </a:p>
                  </a:txBody>
                  <a:tcPr marL="73152" marR="73152" marT="9144" marB="9144" anchor="ctr">
                    <a:solidFill>
                      <a:srgbClr val="F0DC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3E3540"/>
                          </a:solidFill>
                          <a:latin typeface="Calibri"/>
                        </a:rPr>
                        <a:t>5.000.000</a:t>
                      </a:r>
                    </a:p>
                  </a:txBody>
                  <a:tcPr marL="73152" marR="73152" marT="9144" marB="9144" anchor="ctr">
                    <a:solidFill>
                      <a:srgbClr val="F0D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275320" y="5349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E3540"/>
                </a:solidFill>
                <a:latin typeface="Calibri"/>
              </a:rPr>
              <a:t>Toplam tahmini bütçe (9 ay)</a:t>
            </a:r>
          </a:p>
          <a:p>
            <a:r>
              <a:rPr sz="2000" b="1">
                <a:solidFill>
                  <a:srgbClr val="CE8E77"/>
                </a:solidFill>
                <a:latin typeface="Century Schoolbook"/>
              </a:rPr>
              <a:t>≈ 5.000.000 TL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35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Risk analizi ve önlemler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RİSK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ALINACAK ÖNLEM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F4EC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215798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Giydirme görüntüsü yeterince gerçekçi olmayabilir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0" y="21579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Yeterli görsel veri, model iyileştirme ve kullanıcı testleri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378440" y="2286000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B565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378440" y="232257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8680" y="299923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 önerisi yanlış çıkabilir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0" y="29992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beden tablolarıyla kalibrasyon, geri bildirimle iyileştirme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378440" y="3127248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B565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378440" y="316382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785616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F4EC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vücut tipi/pozlarda doğruluk düşebilir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0" y="3840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Çeşitli vücut tipleriyle model eğitimi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378440" y="3968496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D9A24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378440" y="40050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626864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8680" y="468172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&amp; kişisel görüntü verisi gizliliği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0" y="46817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Cihazda işleme, anonimleştirme ve KVKK uyumu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78440" y="4809744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D9A24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378440" y="4846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468112"/>
            <a:ext cx="10927080" cy="749808"/>
          </a:xfrm>
          <a:prstGeom prst="roundRect">
            <a:avLst>
              <a:gd name="adj" fmla="val 9756"/>
            </a:avLst>
          </a:prstGeom>
          <a:solidFill>
            <a:srgbClr val="F4EC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68680" y="552297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entegrasyonu zorlaşabilir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0" y="55229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ve esnek API tasarımı, pilotla doğrulama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378440" y="5650992"/>
            <a:ext cx="960120" cy="384048"/>
          </a:xfrm>
          <a:prstGeom prst="roundRect">
            <a:avLst>
              <a:gd name="adj" fmla="val 47619"/>
            </a:avLst>
          </a:prstGeom>
          <a:solidFill>
            <a:srgbClr val="A7BBA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378440" y="56875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C80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ayné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E3540"/>
                </a:solidFill>
                <a:latin typeface="Century Schoolbook"/>
              </a:rPr>
              <a:t>Başarı ve kabul kriterleri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C8088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088"/>
                </a:solidFill>
                <a:latin typeface="Century Schoolbook"/>
              </a:rPr>
              <a:t>ayné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3832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3000" b="1" dirty="0">
                <a:solidFill>
                  <a:srgbClr val="CE8E77"/>
                </a:solidFill>
                <a:latin typeface="Century Schoolbook"/>
              </a:rPr>
              <a:t>≥ %85</a:t>
            </a:r>
          </a:p>
          <a:p>
            <a:pPr>
              <a:spcBef>
                <a:spcPts val="400"/>
              </a:spcBef>
            </a:pPr>
            <a:r>
              <a:rPr sz="1200" dirty="0">
                <a:solidFill>
                  <a:srgbClr val="3E3540"/>
                </a:solidFill>
                <a:latin typeface="Calibri"/>
              </a:rPr>
              <a:t>Beden </a:t>
            </a:r>
            <a:r>
              <a:rPr sz="1200" dirty="0" err="1">
                <a:solidFill>
                  <a:srgbClr val="3E3540"/>
                </a:solidFill>
                <a:latin typeface="Calibri"/>
              </a:rPr>
              <a:t>öneri</a:t>
            </a:r>
            <a:r>
              <a:rPr sz="1200" dirty="0">
                <a:solidFill>
                  <a:srgbClr val="3E354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E3540"/>
                </a:solidFill>
                <a:latin typeface="Calibri"/>
              </a:rPr>
              <a:t>doğruluğu</a:t>
            </a:r>
            <a:endParaRPr sz="1200" dirty="0">
              <a:solidFill>
                <a:srgbClr val="3E3540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1783080"/>
            <a:ext cx="33832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3000" b="1">
                <a:solidFill>
                  <a:srgbClr val="CE8E77"/>
                </a:solidFill>
                <a:latin typeface="Century Schoolbook"/>
              </a:rPr>
              <a:t>≥ %20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E3540"/>
                </a:solidFill>
                <a:latin typeface="Calibri"/>
              </a:rPr>
              <a:t>İade oranında azalma (pilot)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783080"/>
            <a:ext cx="33832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3000" b="1">
                <a:solidFill>
                  <a:srgbClr val="CE8E77"/>
                </a:solidFill>
                <a:latin typeface="Century Schoolbook"/>
              </a:rPr>
              <a:t>≥ 4 / 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E3540"/>
                </a:solidFill>
                <a:latin typeface="Calibri"/>
              </a:rPr>
              <a:t>Try-on görüntü memnuniyeti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11880"/>
            <a:ext cx="33832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3000" b="1">
                <a:solidFill>
                  <a:srgbClr val="CE8E77"/>
                </a:solidFill>
                <a:latin typeface="Century Schoolbook"/>
              </a:rPr>
              <a:t>≤ 3 sn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E3540"/>
                </a:solidFill>
                <a:latin typeface="Calibri"/>
              </a:rPr>
              <a:t>Canlı işlem gecikmesi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611880"/>
            <a:ext cx="33832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3000" b="1">
                <a:solidFill>
                  <a:srgbClr val="CE8E77"/>
                </a:solidFill>
                <a:latin typeface="Century Schoolbook"/>
              </a:rPr>
              <a:t>+ %10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E3540"/>
                </a:solidFill>
                <a:latin typeface="Calibri"/>
              </a:rPr>
              <a:t>Sepet dönüşüm artışı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611880"/>
            <a:ext cx="33832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3000" b="1">
                <a:solidFill>
                  <a:srgbClr val="CE8E77"/>
                </a:solidFill>
                <a:latin typeface="Century Schoolbook"/>
              </a:rPr>
              <a:t>≤ 2 hafta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E3540"/>
                </a:solidFill>
                <a:latin typeface="Calibri"/>
              </a:rPr>
              <a:t>Pilot mağaza entegrasyon süresi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 err="1">
                <a:solidFill>
                  <a:srgbClr val="3E3540"/>
                </a:solidFill>
                <a:latin typeface="Calibri"/>
              </a:rPr>
              <a:t>Proje</a:t>
            </a:r>
            <a:r>
              <a:rPr sz="1100" b="0" dirty="0">
                <a:solidFill>
                  <a:srgbClr val="3E3540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3E3540"/>
                </a:solidFill>
                <a:latin typeface="Calibri"/>
              </a:rPr>
              <a:t>bu</a:t>
            </a:r>
            <a:r>
              <a:rPr sz="1100" b="0" dirty="0">
                <a:solidFill>
                  <a:srgbClr val="3E354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3E3540"/>
                </a:solidFill>
                <a:latin typeface="Calibri"/>
              </a:rPr>
              <a:t>ölçülebilir</a:t>
            </a:r>
            <a:r>
              <a:rPr sz="1100" b="0" dirty="0">
                <a:solidFill>
                  <a:srgbClr val="3E354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3E3540"/>
                </a:solidFill>
                <a:latin typeface="Calibri"/>
              </a:rPr>
              <a:t>kriterler</a:t>
            </a:r>
            <a:r>
              <a:rPr sz="1100" b="0" dirty="0">
                <a:solidFill>
                  <a:srgbClr val="3E354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3E3540"/>
                </a:solidFill>
                <a:latin typeface="Calibri"/>
              </a:rPr>
              <a:t>karşılandığında</a:t>
            </a:r>
            <a:r>
              <a:rPr sz="1100" b="0" dirty="0">
                <a:solidFill>
                  <a:srgbClr val="3E354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3E3540"/>
                </a:solidFill>
                <a:latin typeface="Calibri"/>
              </a:rPr>
              <a:t>başarılı</a:t>
            </a:r>
            <a:r>
              <a:rPr sz="1100" b="0" dirty="0">
                <a:solidFill>
                  <a:srgbClr val="3E354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3E3540"/>
                </a:solidFill>
                <a:latin typeface="Calibri"/>
              </a:rPr>
              <a:t>kabul</a:t>
            </a:r>
            <a:r>
              <a:rPr sz="1100" b="0" dirty="0">
                <a:solidFill>
                  <a:srgbClr val="3E354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3E3540"/>
                </a:solidFill>
                <a:latin typeface="Calibri"/>
              </a:rPr>
              <a:t>edilir</a:t>
            </a:r>
            <a:r>
              <a:rPr sz="1100" b="0" dirty="0">
                <a:solidFill>
                  <a:srgbClr val="3E3540"/>
                </a:solidFill>
                <a:latin typeface="Calibri"/>
              </a:rPr>
              <a:t>; </a:t>
            </a:r>
            <a:r>
              <a:rPr sz="1100" b="0" dirty="0" err="1">
                <a:solidFill>
                  <a:srgbClr val="3E3540"/>
                </a:solidFill>
                <a:latin typeface="Calibri"/>
              </a:rPr>
              <a:t>kriterler</a:t>
            </a:r>
            <a:r>
              <a:rPr sz="1100" b="0" dirty="0">
                <a:solidFill>
                  <a:srgbClr val="3E3540"/>
                </a:solidFill>
                <a:latin typeface="Calibri"/>
              </a:rPr>
              <a:t> pilot </a:t>
            </a:r>
            <a:r>
              <a:rPr sz="1100" b="0" dirty="0" err="1">
                <a:solidFill>
                  <a:srgbClr val="3E3540"/>
                </a:solidFill>
                <a:latin typeface="Calibri"/>
              </a:rPr>
              <a:t>mağaza</a:t>
            </a:r>
            <a:r>
              <a:rPr sz="1100" b="0" dirty="0">
                <a:solidFill>
                  <a:srgbClr val="3E354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3E3540"/>
                </a:solidFill>
                <a:latin typeface="Calibri"/>
              </a:rPr>
              <a:t>verisiyle</a:t>
            </a:r>
            <a:r>
              <a:rPr sz="1100" b="0" dirty="0">
                <a:solidFill>
                  <a:srgbClr val="3E354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3E3540"/>
                </a:solidFill>
                <a:latin typeface="Calibri"/>
              </a:rPr>
              <a:t>doğrulanır</a:t>
            </a:r>
            <a:r>
              <a:rPr sz="1100" b="0" dirty="0">
                <a:solidFill>
                  <a:srgbClr val="3E3540"/>
                </a:solidFill>
                <a:latin typeface="Calibri"/>
              </a:rPr>
              <a:t>.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5E8DD993-E475-C881-304F-A61F863EB70D}"/>
              </a:ext>
            </a:extLst>
          </p:cNvPr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5 ÖLÇÜLEBİLİR HEDEFLER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 err="1">
                <a:solidFill>
                  <a:srgbClr val="3E3540"/>
                </a:solidFill>
                <a:latin typeface="Century Schoolbook"/>
              </a:rPr>
              <a:t>Proje</a:t>
            </a:r>
            <a:r>
              <a:rPr sz="3000" b="1" dirty="0">
                <a:solidFill>
                  <a:srgbClr val="3E3540"/>
                </a:solidFill>
                <a:latin typeface="Century Schoolbook"/>
              </a:rPr>
              <a:t> </a:t>
            </a:r>
            <a:r>
              <a:rPr sz="3000" b="1" dirty="0" err="1">
                <a:solidFill>
                  <a:srgbClr val="3E3540"/>
                </a:solidFill>
                <a:latin typeface="Century Schoolbook"/>
              </a:rPr>
              <a:t>kapanışı</a:t>
            </a:r>
            <a:r>
              <a:rPr sz="3000" b="1" dirty="0">
                <a:solidFill>
                  <a:srgbClr val="3E3540"/>
                </a:solidFill>
                <a:latin typeface="Century Schoolbook"/>
              </a:rPr>
              <a:t> </a:t>
            </a:r>
            <a:r>
              <a:rPr sz="3000" b="1" dirty="0" err="1">
                <a:solidFill>
                  <a:srgbClr val="3E3540"/>
                </a:solidFill>
                <a:latin typeface="Century Schoolbook"/>
              </a:rPr>
              <a:t>ve</a:t>
            </a:r>
            <a:r>
              <a:rPr sz="3000" b="1" dirty="0">
                <a:solidFill>
                  <a:srgbClr val="3E3540"/>
                </a:solidFill>
                <a:latin typeface="Century Schoolbook"/>
              </a:rPr>
              <a:t> </a:t>
            </a:r>
            <a:r>
              <a:rPr sz="3000" b="1" dirty="0" err="1">
                <a:solidFill>
                  <a:srgbClr val="3E3540"/>
                </a:solidFill>
                <a:latin typeface="Century Schoolbook"/>
              </a:rPr>
              <a:t>sonraki</a:t>
            </a:r>
            <a:r>
              <a:rPr sz="3000" b="1" dirty="0">
                <a:solidFill>
                  <a:srgbClr val="3E3540"/>
                </a:solidFill>
                <a:latin typeface="Century Schoolbook"/>
              </a:rPr>
              <a:t> </a:t>
            </a:r>
            <a:r>
              <a:rPr sz="3000" b="1" dirty="0" err="1">
                <a:solidFill>
                  <a:srgbClr val="3E3540"/>
                </a:solidFill>
                <a:latin typeface="Century Schoolbook"/>
              </a:rPr>
              <a:t>adımlar</a:t>
            </a:r>
            <a:endParaRPr sz="3000" b="1" dirty="0">
              <a:solidFill>
                <a:srgbClr val="3E3540"/>
              </a:solidFill>
              <a:latin typeface="Century Schoolboo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C8088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8C8088"/>
                </a:solidFill>
                <a:latin typeface="Century Schoolbook"/>
              </a:rPr>
              <a:t>ayné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1051560"/>
          </a:xfrm>
          <a:prstGeom prst="roundRect">
            <a:avLst/>
          </a:prstGeom>
          <a:solidFill>
            <a:srgbClr val="FDFAF8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ctr"/>
            <a:r>
              <a:rPr sz="1600" dirty="0" err="1">
                <a:solidFill>
                  <a:schemeClr val="tx1"/>
                </a:solidFill>
                <a:latin typeface="Calibri"/>
              </a:rPr>
              <a:t>Başlangıç</a:t>
            </a:r>
            <a:r>
              <a:rPr sz="1600" dirty="0">
                <a:solidFill>
                  <a:schemeClr val="tx1"/>
                </a:solidFill>
                <a:latin typeface="Calibri"/>
              </a:rPr>
              <a:t>: </a:t>
            </a:r>
            <a:r>
              <a:rPr sz="1600" b="1" dirty="0">
                <a:solidFill>
                  <a:schemeClr val="tx1"/>
                </a:solidFill>
                <a:latin typeface="Calibri"/>
              </a:rPr>
              <a:t>Ocak 2026</a:t>
            </a:r>
            <a:r>
              <a:rPr sz="1600" dirty="0">
                <a:solidFill>
                  <a:schemeClr val="tx1"/>
                </a:solidFill>
                <a:latin typeface="Calibri"/>
              </a:rPr>
              <a:t>     </a:t>
            </a:r>
            <a:r>
              <a:rPr sz="1600" dirty="0" err="1">
                <a:solidFill>
                  <a:schemeClr val="tx1"/>
                </a:solidFill>
                <a:latin typeface="Calibri"/>
              </a:rPr>
              <a:t>Bitiş</a:t>
            </a:r>
            <a:r>
              <a:rPr sz="1600" dirty="0">
                <a:solidFill>
                  <a:schemeClr val="tx1"/>
                </a:solidFill>
                <a:latin typeface="Calibri"/>
              </a:rPr>
              <a:t>: </a:t>
            </a:r>
            <a:r>
              <a:rPr sz="1600" b="1" dirty="0">
                <a:solidFill>
                  <a:schemeClr val="tx1"/>
                </a:solidFill>
                <a:latin typeface="Calibri"/>
              </a:rPr>
              <a:t>Eylül 2026</a:t>
            </a:r>
            <a:r>
              <a:rPr sz="1600" dirty="0">
                <a:solidFill>
                  <a:schemeClr val="tx1"/>
                </a:solidFill>
                <a:latin typeface="Calibri"/>
              </a:rPr>
              <a:t>     </a:t>
            </a:r>
            <a:r>
              <a:rPr sz="1600" dirty="0" err="1">
                <a:solidFill>
                  <a:schemeClr val="tx1"/>
                </a:solidFill>
                <a:latin typeface="Calibri"/>
              </a:rPr>
              <a:t>Süre</a:t>
            </a:r>
            <a:r>
              <a:rPr sz="1600" dirty="0">
                <a:solidFill>
                  <a:schemeClr val="tx1"/>
                </a:solidFill>
                <a:latin typeface="Calibri"/>
              </a:rPr>
              <a:t>: </a:t>
            </a:r>
            <a:r>
              <a:rPr sz="1600" b="1" dirty="0">
                <a:solidFill>
                  <a:schemeClr val="tx1"/>
                </a:solidFill>
                <a:latin typeface="Calibri"/>
              </a:rPr>
              <a:t>9 ay</a:t>
            </a:r>
            <a:r>
              <a:rPr sz="1600" dirty="0">
                <a:solidFill>
                  <a:schemeClr val="tx1"/>
                </a:solidFill>
                <a:latin typeface="Calibri"/>
              </a:rPr>
              <a:t>     </a:t>
            </a:r>
            <a:r>
              <a:rPr sz="1600" dirty="0" err="1">
                <a:solidFill>
                  <a:schemeClr val="tx1"/>
                </a:solidFill>
                <a:latin typeface="Calibri"/>
              </a:rPr>
              <a:t>Bütçe</a:t>
            </a:r>
            <a:r>
              <a:rPr sz="1600" dirty="0">
                <a:solidFill>
                  <a:schemeClr val="tx1"/>
                </a:solidFill>
                <a:latin typeface="Calibri"/>
              </a:rPr>
              <a:t>: </a:t>
            </a:r>
            <a:r>
              <a:rPr sz="1600" b="1" dirty="0">
                <a:solidFill>
                  <a:schemeClr val="tx1"/>
                </a:solidFill>
                <a:latin typeface="Calibri"/>
              </a:rPr>
              <a:t>≈ 5.000.000 TL</a:t>
            </a:r>
            <a:r>
              <a:rPr sz="1600" dirty="0">
                <a:solidFill>
                  <a:schemeClr val="tx1"/>
                </a:solidFill>
                <a:latin typeface="Calibri"/>
              </a:rPr>
              <a:t>     </a:t>
            </a:r>
            <a:r>
              <a:rPr sz="1600" dirty="0" err="1">
                <a:solidFill>
                  <a:schemeClr val="tx1"/>
                </a:solidFill>
                <a:latin typeface="Calibri"/>
              </a:rPr>
              <a:t>Ekip</a:t>
            </a:r>
            <a:r>
              <a:rPr sz="1600" dirty="0">
                <a:solidFill>
                  <a:schemeClr val="tx1"/>
                </a:solidFill>
                <a:latin typeface="Calibri"/>
              </a:rPr>
              <a:t>: </a:t>
            </a:r>
            <a:r>
              <a:rPr sz="1600" b="1" dirty="0">
                <a:solidFill>
                  <a:schemeClr val="tx1"/>
                </a:solidFill>
                <a:latin typeface="Calibri"/>
              </a:rPr>
              <a:t>6 </a:t>
            </a:r>
            <a:r>
              <a:rPr sz="1600" b="1" dirty="0" err="1">
                <a:solidFill>
                  <a:schemeClr val="tx1"/>
                </a:solidFill>
                <a:latin typeface="Calibri"/>
              </a:rPr>
              <a:t>kişi</a:t>
            </a:r>
            <a:endParaRPr sz="1600" b="1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E3540"/>
                </a:solidFill>
                <a:latin typeface="Calibri"/>
              </a:rPr>
              <a:t>Pilot mağazada doğrulanan Ayné, tek kategoriden çok kategoriye ve yeni markalara ölçeklenmeye hazırdır. Elde edilen veriler, dokümante edilerek sonraki projelere kurumsal hafıza olarak aktarılır.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2624328" cy="1371600"/>
          </a:xfrm>
          <a:prstGeom prst="roundRect">
            <a:avLst/>
          </a:prstGeom>
          <a:solidFill>
            <a:srgbClr val="F0DDD3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ctr"/>
          <a:lstStyle/>
          <a:p>
            <a:pPr algn="ctr"/>
            <a:r>
              <a:rPr sz="1300" b="1">
                <a:solidFill>
                  <a:srgbClr val="3E3540"/>
                </a:solidFill>
                <a:latin typeface="Calibri"/>
              </a:rPr>
              <a:t>Çok kategori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3E3540"/>
                </a:solidFill>
                <a:latin typeface="Calibri"/>
              </a:rPr>
              <a:t>•  Ayakkabı &amp; aksesuar denemesi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4297680"/>
            <a:ext cx="2624328" cy="1371600"/>
          </a:xfrm>
          <a:prstGeom prst="roundRect">
            <a:avLst/>
          </a:prstGeom>
          <a:solidFill>
            <a:srgbClr val="E3EBE1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ctr"/>
          <a:lstStyle/>
          <a:p>
            <a:pPr algn="ctr"/>
            <a:r>
              <a:rPr sz="1300" b="1">
                <a:solidFill>
                  <a:srgbClr val="3E3540"/>
                </a:solidFill>
                <a:latin typeface="Calibri"/>
              </a:rPr>
              <a:t>Mağaza içi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3E3540"/>
                </a:solidFill>
                <a:latin typeface="Calibri"/>
              </a:rPr>
              <a:t>•  Akıllı ayna &amp; kiosk entegrasyonu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4297680"/>
            <a:ext cx="2624328" cy="1371600"/>
          </a:xfrm>
          <a:prstGeom prst="roundRect">
            <a:avLst/>
          </a:prstGeom>
          <a:solidFill>
            <a:srgbClr val="F5E8CB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ctr"/>
          <a:lstStyle/>
          <a:p>
            <a:pPr algn="ctr"/>
            <a:r>
              <a:rPr sz="1300" b="1">
                <a:solidFill>
                  <a:srgbClr val="3E3540"/>
                </a:solidFill>
                <a:latin typeface="Calibri"/>
              </a:rPr>
              <a:t>Yeni markalar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3E3540"/>
                </a:solidFill>
                <a:latin typeface="Calibri"/>
              </a:rPr>
              <a:t>•  Ek e-ticaret &amp; marka entegrasyonu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24544" y="4297680"/>
            <a:ext cx="2624328" cy="1371600"/>
          </a:xfrm>
          <a:prstGeom prst="roundRect">
            <a:avLst/>
          </a:prstGeom>
          <a:solidFill>
            <a:srgbClr val="EDDDE7"/>
          </a:solidFill>
          <a:ln w="12700">
            <a:solidFill>
              <a:srgbClr val="F4E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28016" bIns="91440" rtlCol="0" anchor="ctr"/>
          <a:lstStyle/>
          <a:p>
            <a:pPr algn="ctr"/>
            <a:r>
              <a:rPr sz="1300" b="1">
                <a:solidFill>
                  <a:srgbClr val="3E3540"/>
                </a:solidFill>
                <a:latin typeface="Calibri"/>
              </a:rPr>
              <a:t>Sürekli iyileştirme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3E3540"/>
                </a:solidFill>
                <a:latin typeface="Calibri"/>
              </a:rPr>
              <a:t>•  Model doğruluğunun artırılması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63FDB9CE-3876-288D-227B-E070EE53C220}"/>
              </a:ext>
            </a:extLst>
          </p:cNvPr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KAPANIŞI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52A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572000" cy="4572000"/>
          </a:xfrm>
          <a:prstGeom prst="ellipse">
            <a:avLst/>
          </a:prstGeom>
          <a:solidFill>
            <a:srgbClr val="3E314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75520" y="-1554480"/>
            <a:ext cx="4023360" cy="4023360"/>
          </a:xfrm>
          <a:prstGeom prst="ellipse">
            <a:avLst/>
          </a:prstGeom>
          <a:solidFill>
            <a:srgbClr val="4335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6 · PROJE SONUCU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Denemeden almanın rahatlığı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4A3B5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4688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İade oranlarında düşüş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2670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7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beden ve önizleme ile yanlış alım azalır.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640080" cy="640080"/>
          </a:xfrm>
          <a:prstGeom prst="ellipse">
            <a:avLst/>
          </a:prstGeom>
          <a:solidFill>
            <a:srgbClr val="4A3B5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4688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yüksek dönüşüm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32320" y="2670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7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Güvenle satın alan müşteri, tamamlanan sepet.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3657600"/>
            <a:ext cx="640080" cy="640080"/>
          </a:xfrm>
          <a:prstGeom prst="ellipse">
            <a:avLst/>
          </a:prstGeom>
          <a:solidFill>
            <a:srgbClr val="4A3B5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840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 hissi, online'da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645920" y="40416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7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Aynada görme deneyimi dijitale taşınır.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09360" y="3657600"/>
            <a:ext cx="640080" cy="640080"/>
          </a:xfrm>
          <a:prstGeom prst="ellipse">
            <a:avLst/>
          </a:prstGeom>
          <a:solidFill>
            <a:srgbClr val="4A3B5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8404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3232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Ölçeklenebilir model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132320" y="40416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7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Pilotla doğrulanıp kategoriye ve firmaya yayılır.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22960" y="5806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F7EF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ay</a:t>
            </a:r>
            <a:r>
              <a:rPr lang="en-US" sz="2600" b="1" dirty="0">
                <a:solidFill>
                  <a:srgbClr val="CE8E7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né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3840480" y="6053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CE8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Almadan önce, üzerinde gör.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1191</Words>
  <Application>Microsoft Macintosh PowerPoint</Application>
  <PresentationFormat>Geniş ekran</PresentationFormat>
  <Paragraphs>276</Paragraphs>
  <Slides>13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8" baseType="lpstr">
      <vt:lpstr>-webkit-standard</vt:lpstr>
      <vt:lpstr>Arial</vt:lpstr>
      <vt:lpstr>Calibri</vt:lpstr>
      <vt:lpstr>Century Schoolbook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Gizem TUĞUZ</cp:lastModifiedBy>
  <cp:revision>3</cp:revision>
  <dcterms:created xsi:type="dcterms:W3CDTF">2026-08-23T18:19:14Z</dcterms:created>
  <dcterms:modified xsi:type="dcterms:W3CDTF">2026-08-24T01:03:59Z</dcterms:modified>
</cp:coreProperties>
</file>